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3" d="100"/>
          <a:sy n="113" d="100"/>
        </p:scale>
        <p:origin x="474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88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project: a multi-stage AI content generation pipeline. It coordinates separate LLM tasks, includes a human approval checkpoint, and refines drafts before packaging them for different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motivation. A single prompt can produce generic or repetitive content and offers limited opportunities for structural review. This project separates the workflow into smaller stages with explicit editorial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flow from research to final packaging. The outline is reviewed by a human before drafting. A rubric then determines whether the draft should be refined before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Stage 1 identifies conceptual pillars, audience needs, evidence angles and counterarguments. Stage 2 turns the findings into a structured outline with titles, section plans, talking points and word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human gate is a governance feature. The editor can revise or reorder sections, add points, approve the outline, or regenerate it. This reduces the risk of expanding a weak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rubric assigns 20 points each to grammar, clarity, audience/tone, outline adherence, and factuality/depth. The documented threshold is 85 out of 100. Below-threshold drafts can enter critique-guided refinement. A high score still does not guarantee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pipeline supports local Ollama with qwen2.5:3b, cloud OpenAI-compatible providers, and offline mock mode. Local inference can avoid sending prompts to a cloud model, while cloud usage depends on provider pricing and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final refined content can be transformed into four formats: an SEO blog post, a social media thread, an email newsletter, or an executive report. Each format gets its own structure and conventions.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screenshot to orient the audience to the Streamlit studio: provider selection and generation controls on the left, pipeline actions and execution artifacts in the main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implementation uses Python and Streamlit for the interface, LangChain LCEL for orchestration, and a provider abstraction for local/cloud/mock models. Modular files separate schemas, model creation, prompts, chains,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distinction between consistency and correctness. An LLM evaluator is useful for structured critique but cannot independently validate factual claims. Human fact-checking and source verification remain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central idea: a controlled, reviewable workflow makes AI-assisted content generation more structured.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9680" y="0"/>
            <a:ext cx="3383280" cy="685800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18320" y="731520"/>
            <a:ext cx="128016" cy="5394960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02520" y="3191256"/>
            <a:ext cx="1794256" cy="461772"/>
          </a:xfrm>
          <a:prstGeom prst="rect">
            <a:avLst/>
          </a:prstGeom>
          <a:solidFill>
            <a:srgbClr val="3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Sharif</a:t>
            </a:r>
            <a:r>
              <a:rPr lang="tr-TR" dirty="0"/>
              <a:t> Ahmed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132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6BECC"/>
                </a:solidFill>
                <a:latin typeface="Aptos"/>
              </a:defRPr>
            </a:pPr>
            <a:r>
              <a:t>MULTI-STAGE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7955279" cy="1463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AI Content Generation</a:t>
            </a:r>
          </a:p>
          <a:p>
            <a:pPr>
              <a:spcAft>
                <a:spcPts val="800"/>
              </a:spcAft>
              <a:defRPr sz="3600" b="0">
                <a:solidFill>
                  <a:srgbClr val="FFFFFF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657600"/>
            <a:ext cx="74066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2DEED"/>
                </a:solidFill>
                <a:latin typeface="Aptos"/>
              </a:defRPr>
            </a:pPr>
            <a:r>
              <a:t>Chained LLM orchestration • Human-in-the-loop governance • Automated self-refinement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PROJECT 8  •  CONTENT GENERATION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Why use a multi-stage pipeline?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Problem 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52044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837944"/>
            <a:ext cx="319125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4B52"/>
                </a:solidFill>
                <a:latin typeface="Aptos"/>
              </a:defRPr>
            </a:pPr>
            <a:r>
              <a:t>Single-prompt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58568"/>
            <a:ext cx="3191256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Generic or repetitive writing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Weak structure and inconsistent tone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Limited review before publishing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837944"/>
            <a:ext cx="319125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68AE"/>
                </a:solidFill>
                <a:latin typeface="Aptos"/>
              </a:defRPr>
            </a:pPr>
            <a:r>
              <a:t>Production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58568"/>
            <a:ext cx="3191256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Clear stages with focused tasks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Editorial checkpoints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Repeatable output formats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91640"/>
            <a:ext cx="352044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1837944"/>
            <a:ext cx="319125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9B6F"/>
                </a:solidFill>
                <a:latin typeface="Aptos"/>
              </a:defRPr>
            </a:pPr>
            <a:r>
              <a:t>Design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258568"/>
            <a:ext cx="2618537" cy="56425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rPr dirty="0"/>
              <a:t>Separate research, outlining, drafting, </a:t>
            </a:r>
            <a:endParaRPr lang="tr-TR" dirty="0"/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rPr dirty="0"/>
              <a:t>evaluation, and packaging.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13223A"/>
                </a:solidFill>
                <a:latin typeface="Aptos"/>
              </a:defRPr>
            </a:pPr>
            <a:r>
              <a:t>Core idea: make generation a controlled workflow—not one large prompt.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A human-approved outline guides drafting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920240" cy="18288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3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121408"/>
            <a:ext cx="170078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239B6F"/>
                </a:solidFill>
                <a:latin typeface="Aptos"/>
              </a:defRPr>
            </a:pPr>
            <a:r>
              <a:t>1. Research &amp;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651760"/>
            <a:ext cx="1627632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Topic analysis, audience needs,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key ideas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2670048"/>
            <a:ext cx="411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877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2011680"/>
            <a:ext cx="1920240" cy="18288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2121408"/>
            <a:ext cx="170078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B040"/>
                </a:solidFill>
                <a:latin typeface="Aptos"/>
              </a:defRPr>
            </a:pPr>
            <a:r>
              <a:t>2. Outline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651760"/>
            <a:ext cx="1627632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Sections, talking points,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word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670048"/>
            <a:ext cx="411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877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4" y="2011680"/>
            <a:ext cx="1920240" cy="18288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E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2121408"/>
            <a:ext cx="170078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2E68AE"/>
                </a:solidFill>
                <a:latin typeface="Aptos"/>
              </a:defRPr>
            </a:pPr>
            <a:r>
              <a:t>3. Draft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651760"/>
            <a:ext cx="1627632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Expand the approved outline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into a coherent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670048"/>
            <a:ext cx="411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877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2011680"/>
            <a:ext cx="1920240" cy="18288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FF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2944" y="2121408"/>
            <a:ext cx="170078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4B52"/>
                </a:solidFill>
                <a:latin typeface="Aptos"/>
              </a:defRPr>
            </a:pPr>
            <a:r>
              <a:t>4. Quality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51760"/>
            <a:ext cx="1627632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Score, critique and refine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when below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670048"/>
            <a:ext cx="411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877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2011680"/>
            <a:ext cx="1920240" cy="18288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66376" y="2121408"/>
            <a:ext cx="170078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36BECC"/>
                </a:solidFill>
                <a:latin typeface="Aptos"/>
              </a:defRPr>
            </a:pPr>
            <a:r>
              <a:t>5. Format adaptation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2651760"/>
            <a:ext cx="1627632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Package for the selected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32F42"/>
                </a:solidFill>
                <a:latin typeface="Aptos"/>
              </a:defRPr>
            </a:pPr>
            <a:r>
              <a:t>publishing channel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4343400"/>
            <a:ext cx="3749039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84832" y="4489704"/>
            <a:ext cx="341985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B040"/>
                </a:solidFill>
                <a:latin typeface="Aptos"/>
              </a:defRPr>
            </a:pPr>
            <a:r>
              <a:t>Human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2" y="4910328"/>
            <a:ext cx="3419856" cy="3657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Review, edit, reorder or regenerate the outline.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43400"/>
            <a:ext cx="3749039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4489704"/>
            <a:ext cx="341985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4B52"/>
                </a:solidFill>
                <a:latin typeface="Aptos"/>
              </a:defRPr>
            </a:pPr>
            <a:r>
              <a:t>Refinement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910328"/>
            <a:ext cx="3419856" cy="3657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Low-scoring drafts receive targeted revision.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Stages 1–2: research and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Build a plan before writing the full draft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347472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37944"/>
            <a:ext cx="49286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9B6F"/>
                </a:solidFill>
                <a:latin typeface="Aptos"/>
              </a:defRPr>
            </a:pPr>
            <a:r>
              <a:t>Stage 1 — Research &amp;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58568"/>
            <a:ext cx="4928616" cy="2788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Break the topic into core questions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Consider audience needs and pain points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Identify 4–6 conceptual pillars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Surface evidence angles and counterarguments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57800" cy="347472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837944"/>
            <a:ext cx="49286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B040"/>
                </a:solidFill>
                <a:latin typeface="Aptos"/>
              </a:defRPr>
            </a:pPr>
            <a:r>
              <a:t>Stage 2 — Outline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258568"/>
            <a:ext cx="4928616" cy="2788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Generate title and opening-hook options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Organize sections and talking points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Estimate word counts and evidence needs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Pause for human review and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577840"/>
            <a:ext cx="101498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3223A"/>
                </a:solidFill>
                <a:latin typeface="Aptos"/>
              </a:defRPr>
            </a:pPr>
            <a:r>
              <a:t>Human approval happens before the system expands the outline into a complete draft.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Human-in-the-loop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The editor stays in control of the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375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883664"/>
            <a:ext cx="300837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68AE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04288"/>
            <a:ext cx="3008376" cy="16459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Inspect the proposed title, sections, talking points, and word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375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883664"/>
            <a:ext cx="300837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B040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04288"/>
            <a:ext cx="3008376" cy="16459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Adjust, reorder, or add custom points before drafting.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3375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883664"/>
            <a:ext cx="300837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9B6F"/>
                </a:solidFill>
                <a:latin typeface="Aptos"/>
              </a:defRPr>
            </a:pPr>
            <a:r>
              <a:t>Approve or regenerate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304288"/>
            <a:ext cx="3008376" cy="16459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Continue with the approved plan—or return to outline generation.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102412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3223A"/>
                </a:solidFill>
                <a:latin typeface="Aptos"/>
              </a:defRPr>
            </a:pPr>
            <a:r>
              <a:t>Benefit: the model does not proceed blindly from an unreviewed outline.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Quality control and self-refinement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A 100-point editorial rubric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2F42"/>
                </a:solidFill>
                <a:latin typeface="Aptos"/>
              </a:defRPr>
            </a:pPr>
            <a:r>
              <a:t>Grammar &amp; syntax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719072"/>
            <a:ext cx="5852160" cy="219456"/>
          </a:xfrm>
          <a:prstGeom prst="roundRect">
            <a:avLst/>
          </a:prstGeom>
          <a:solidFill>
            <a:srgbClr val="E7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37560" y="1719072"/>
            <a:ext cx="5852160" cy="219456"/>
          </a:xfrm>
          <a:prstGeom prst="roundRect">
            <a:avLst/>
          </a:prstGeom>
          <a:solidFill>
            <a:srgbClr val="2E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64040" y="1673352"/>
            <a:ext cx="1005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E68AE"/>
                </a:solidFill>
                <a:latin typeface="Aptos"/>
              </a:defRPr>
            </a:pPr>
            <a:r>
              <a:t>20/20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2F42"/>
                </a:solidFill>
                <a:latin typeface="Aptos"/>
              </a:defRPr>
            </a:pPr>
            <a:r>
              <a:t>Clarity &amp; coherence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432303"/>
            <a:ext cx="5852160" cy="219456"/>
          </a:xfrm>
          <a:prstGeom prst="roundRect">
            <a:avLst/>
          </a:prstGeom>
          <a:solidFill>
            <a:srgbClr val="E7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37560" y="2432303"/>
            <a:ext cx="5852160" cy="219456"/>
          </a:xfrm>
          <a:prstGeom prst="roundRect">
            <a:avLst/>
          </a:prstGeom>
          <a:solidFill>
            <a:srgbClr val="3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64040" y="2386584"/>
            <a:ext cx="1005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6BECC"/>
                </a:solidFill>
                <a:latin typeface="Aptos"/>
              </a:defRPr>
            </a:pPr>
            <a:r>
              <a:t>20/20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4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2F42"/>
                </a:solidFill>
                <a:latin typeface="Aptos"/>
              </a:defRPr>
            </a:pPr>
            <a:r>
              <a:t>Audience &amp; tone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145536"/>
            <a:ext cx="5852160" cy="219456"/>
          </a:xfrm>
          <a:prstGeom prst="roundRect">
            <a:avLst/>
          </a:prstGeom>
          <a:solidFill>
            <a:srgbClr val="E7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37560" y="3145536"/>
            <a:ext cx="5852160" cy="219456"/>
          </a:xfrm>
          <a:prstGeom prst="round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40" y="3099816"/>
            <a:ext cx="1005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040"/>
                </a:solidFill>
                <a:latin typeface="Aptos"/>
              </a:defRPr>
            </a:pPr>
            <a:r>
              <a:t>20/20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5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2F42"/>
                </a:solidFill>
                <a:latin typeface="Aptos"/>
              </a:defRPr>
            </a:pPr>
            <a:r>
              <a:t>Outline adherence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858768"/>
            <a:ext cx="5852160" cy="219456"/>
          </a:xfrm>
          <a:prstGeom prst="roundRect">
            <a:avLst/>
          </a:prstGeom>
          <a:solidFill>
            <a:srgbClr val="E7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37560" y="3858768"/>
            <a:ext cx="5852160" cy="219456"/>
          </a:xfrm>
          <a:prstGeom prst="roundRect">
            <a:avLst/>
          </a:prstGeom>
          <a:solidFill>
            <a:srgbClr val="23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64040" y="3813048"/>
            <a:ext cx="1005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39B6F"/>
                </a:solidFill>
                <a:latin typeface="Aptos"/>
              </a:defRPr>
            </a:pPr>
            <a:r>
              <a:t>20/20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44568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2F42"/>
                </a:solidFill>
                <a:latin typeface="Aptos"/>
              </a:defRPr>
            </a:pPr>
            <a:r>
              <a:t>Factuality &amp; depth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4572000"/>
            <a:ext cx="5852160" cy="219456"/>
          </a:xfrm>
          <a:prstGeom prst="roundRect">
            <a:avLst/>
          </a:prstGeom>
          <a:solidFill>
            <a:srgbClr val="E7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337560" y="4572000"/>
            <a:ext cx="5852160" cy="219456"/>
          </a:xfrm>
          <a:prstGeom prst="round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64040" y="4526280"/>
            <a:ext cx="1005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4B52"/>
                </a:solidFill>
                <a:latin typeface="Aptos"/>
              </a:defRPr>
            </a:pPr>
            <a:r>
              <a:t>20/20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86400"/>
            <a:ext cx="4663440" cy="658368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5632704"/>
            <a:ext cx="4334255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9B6F"/>
                </a:solidFill>
                <a:latin typeface="Aptos"/>
              </a:defRPr>
            </a:pPr>
            <a:r>
              <a:t>Pass 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6053328"/>
            <a:ext cx="4334255" cy="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85/100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5486400"/>
            <a:ext cx="4663440" cy="658368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5632704"/>
            <a:ext cx="4334255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4B52"/>
                </a:solidFill>
                <a:latin typeface="Aptos"/>
              </a:defRPr>
            </a:pPr>
            <a:r>
              <a:t>Below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6053328"/>
            <a:ext cx="4334255" cy="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Critique-guided refinement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Flexible model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Local privacy or cloud capability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83664"/>
            <a:ext cx="49286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9B6F"/>
                </a:solidFill>
                <a:latin typeface="Aptos"/>
              </a:defRPr>
            </a:pPr>
            <a:r>
              <a:t>Local —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04288"/>
            <a:ext cx="4928616" cy="2606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Model: qwen2.5:3b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Runs on the user's machine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No per-request cloud API charge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Useful for private/local workflows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Requires local compute and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5780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883664"/>
            <a:ext cx="49286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68AE"/>
                </a:solidFill>
                <a:latin typeface="Aptos"/>
              </a:defRPr>
            </a:pPr>
            <a:r>
              <a:t>Cloud — OpenAI-compatible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04288"/>
            <a:ext cx="4928616" cy="2606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Examples in project documentation: GPT models, Groq, DeepSeek, OpenRouter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Switch providers through configuration/UI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Requires valid endpoint and credentials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Usage may incur provider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4241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68778B"/>
                </a:solidFill>
                <a:latin typeface="Aptos"/>
              </a:defRPr>
            </a:pPr>
            <a:r>
              <a:t>Offline mock mode is also available for demonstrations without a model call.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One refined draft, multiple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Platform-specific packaging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2651760" cy="30632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883664"/>
            <a:ext cx="232257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4B52"/>
                </a:solidFill>
                <a:latin typeface="Aptos"/>
              </a:defRPr>
            </a:pPr>
            <a:r>
              <a:t>SEO blog 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2322576" cy="2377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H1/H2/H3 structure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Meta description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Keywords and takeaways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Image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651760" cy="30632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1883664"/>
            <a:ext cx="232257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68AE"/>
                </a:solidFill>
                <a:latin typeface="Aptos"/>
              </a:defRPr>
            </a:pPr>
            <a:r>
              <a:t>Social 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2304288"/>
            <a:ext cx="2322576" cy="2377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8 numbered posts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Short, scannable text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Hashtags and CTA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737360"/>
            <a:ext cx="2651760" cy="30632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883664"/>
            <a:ext cx="232257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9B6F"/>
                </a:solidFill>
                <a:latin typeface="Aptos"/>
              </a:defRPr>
            </a:pPr>
            <a:r>
              <a:t>Email newsletter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304288"/>
            <a:ext cx="2322576" cy="2377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Subject line options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Preview text and TL;DR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Greeting and sign-off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737360"/>
            <a:ext cx="2194560" cy="30632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91472" y="1883664"/>
            <a:ext cx="186537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B040"/>
                </a:solidFill>
                <a:latin typeface="Aptos"/>
              </a:defRPr>
            </a:pPr>
            <a:r>
              <a:t>Executive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304288"/>
            <a:ext cx="1865376" cy="2377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Summary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Findings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Recommendations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3223A"/>
                </a:solidFill>
                <a:latin typeface="Aptos"/>
              </a:defRPr>
            </a:pPr>
            <a:r>
              <a:t>The core content is refined once, then adapted to the chosen channel.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The Streamlit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Interactive controls and execution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1083564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554480"/>
            <a:ext cx="10835640" cy="4526280"/>
          </a:xfrm>
          <a:prstGeom prst="rect">
            <a:avLst/>
          </a:prstGeom>
          <a:noFill/>
          <a:ln w="1524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Modular code with a lightweight web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37944"/>
            <a:ext cx="30998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68AE"/>
                </a:solidFill>
                <a:latin typeface="Aptos"/>
              </a:defRPr>
            </a:pPr>
            <a:r>
              <a:t>Python +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58568"/>
            <a:ext cx="3099816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Application UI and workflow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42900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837944"/>
            <a:ext cx="30998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9B6F"/>
                </a:solidFill>
                <a:latin typeface="Aptos"/>
              </a:defRPr>
            </a:pPr>
            <a:r>
              <a:t>LangChain LCEL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258568"/>
            <a:ext cx="3099816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Composes the staged LLM chains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42900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837944"/>
            <a:ext cx="30998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B040"/>
                </a:solidFill>
                <a:latin typeface="Aptos"/>
              </a:defRPr>
            </a:pPr>
            <a:r>
              <a:t>Model adapters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258568"/>
            <a:ext cx="3099816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Ollama, cloud-compatible APIs, mock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3223A"/>
                </a:solidFill>
                <a:latin typeface="Aptos"/>
              </a:defRPr>
            </a:pPr>
            <a:r>
              <a:t>Core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5212080" cy="15544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32F42"/>
                </a:solidFill>
                <a:latin typeface="Aptos"/>
              </a:defRPr>
            </a:pPr>
            <a:r>
              <a:t>config.py — data schemas and configuration</a:t>
            </a:r>
          </a:p>
          <a:p>
            <a:pPr>
              <a:spcAft>
                <a:spcPts val="1100"/>
              </a:spcAft>
              <a:defRPr sz="1400">
                <a:solidFill>
                  <a:srgbClr val="232F42"/>
                </a:solidFill>
                <a:latin typeface="Aptos"/>
              </a:defRPr>
            </a:pPr>
            <a:r>
              <a:t>models.py — model/provider factory</a:t>
            </a:r>
          </a:p>
          <a:p>
            <a:pPr>
              <a:spcAft>
                <a:spcPts val="1100"/>
              </a:spcAft>
              <a:defRPr sz="1400">
                <a:solidFill>
                  <a:srgbClr val="232F42"/>
                </a:solidFill>
                <a:latin typeface="Aptos"/>
              </a:defRPr>
            </a:pPr>
            <a:r>
              <a:t>prompts.py — stage-specific prompts</a:t>
            </a:r>
          </a:p>
          <a:p>
            <a:pPr>
              <a:spcAft>
                <a:spcPts val="1100"/>
              </a:spcAft>
              <a:defRPr sz="1400">
                <a:solidFill>
                  <a:srgbClr val="232F42"/>
                </a:solidFill>
                <a:latin typeface="Aptos"/>
              </a:defRPr>
            </a:pPr>
            <a:r>
              <a:t>chains.py — pipeline orchestration</a:t>
            </a:r>
          </a:p>
          <a:p>
            <a:pPr>
              <a:spcAft>
                <a:spcPts val="1100"/>
              </a:spcAft>
              <a:defRPr sz="1400">
                <a:solidFill>
                  <a:srgbClr val="232F42"/>
                </a:solidFill>
                <a:latin typeface="Aptos"/>
              </a:defRPr>
            </a:pPr>
            <a:r>
              <a:t>evaluator.py — scoring and JSON parsing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27432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3223A"/>
                </a:solidFill>
                <a:latin typeface="Aptos"/>
              </a:defRPr>
            </a:pPr>
            <a:r>
              <a:t>Validation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26280"/>
            <a:ext cx="4754880" cy="1463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32F42"/>
                </a:solidFill>
                <a:latin typeface="Aptos"/>
              </a:defRPr>
            </a:pPr>
            <a:r>
              <a:t>CLI runner for repeatable test runs</a:t>
            </a:r>
          </a:p>
          <a:p>
            <a:pPr>
              <a:spcAft>
                <a:spcPts val="1100"/>
              </a:spcAft>
              <a:defRPr sz="1400">
                <a:solidFill>
                  <a:srgbClr val="232F42"/>
                </a:solidFill>
                <a:latin typeface="Aptos"/>
              </a:defRPr>
            </a:pPr>
            <a:r>
              <a:t>Pre-generated samples for review</a:t>
            </a:r>
          </a:p>
          <a:p>
            <a:pPr>
              <a:spcAft>
                <a:spcPts val="1100"/>
              </a:spcAft>
              <a:defRPr sz="1400">
                <a:solidFill>
                  <a:srgbClr val="232F42"/>
                </a:solidFill>
                <a:latin typeface="Aptos"/>
              </a:defRPr>
            </a:pPr>
            <a:r>
              <a:t>Mock mode for offline demonstrations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3223A"/>
                </a:solidFill>
                <a:latin typeface="Aptos"/>
              </a:defRPr>
            </a:pPr>
            <a:r>
              <a:t>Benefits and practical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8778B"/>
                </a:solidFill>
                <a:latin typeface="Aptos"/>
              </a:defRPr>
            </a:pPr>
            <a:r>
              <a:t>A workflow aid—not a guarantee of correctness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FF4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83664"/>
            <a:ext cx="49286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9B6F"/>
                </a:solidFill>
                <a:latin typeface="Aptos"/>
              </a:defRPr>
            </a:pPr>
            <a:r>
              <a:t>What it improves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04288"/>
            <a:ext cx="4928616" cy="2606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More structured drafting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Human control before expansion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Explicit quality criteria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Reusable output formats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Choice of local or cloud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5780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883664"/>
            <a:ext cx="4928616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4B52"/>
                </a:solidFill>
                <a:latin typeface="Aptos"/>
              </a:defRPr>
            </a:pPr>
            <a:r>
              <a:t>What still needs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04288"/>
            <a:ext cx="4928616" cy="2606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LLM scores are not independent proof of truth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Sources and claims need human verification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Small local models may produce weaker research/writing</a:t>
            </a:r>
          </a:p>
          <a:p>
            <a:pPr>
              <a:spcAft>
                <a:spcPts val="800"/>
              </a:spcAft>
              <a:defRPr sz="1200" b="0">
                <a:solidFill>
                  <a:srgbClr val="232F42"/>
                </a:solidFill>
                <a:latin typeface="Aptos"/>
              </a:defRPr>
            </a:pPr>
            <a:r>
              <a:t>• API availability, latency, and cost vary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32120"/>
            <a:ext cx="10241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3223A"/>
                </a:solidFill>
                <a:latin typeface="Aptos"/>
              </a:defRPr>
            </a:pPr>
            <a:r>
              <a:t>Quality gates support editorial consistency; they do not replace fact-checking.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CONTENT GENERATION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68680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6BECC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8778240" cy="1234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one prompt to a</a:t>
            </a:r>
          </a:p>
          <a:p>
            <a:pPr>
              <a:spcAft>
                <a:spcPts val="800"/>
              </a:spcAft>
              <a:defRPr sz="3400" b="0">
                <a:solidFill>
                  <a:srgbClr val="FFFFFF"/>
                </a:solidFill>
                <a:latin typeface="Aptos"/>
              </a:defRPr>
            </a:pPr>
            <a:r>
              <a:t>controlled content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03327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2DEED"/>
                </a:solidFill>
                <a:latin typeface="Aptos"/>
              </a:defRPr>
            </a:pPr>
            <a:r>
              <a:t>Research → Outline → Human approval → Draft → Evaluate &amp; refine →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83480"/>
            <a:ext cx="36576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B040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3657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6BEC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8778B"/>
                </a:solidFill>
                <a:latin typeface="Aptos"/>
              </a:defRPr>
            </a:pPr>
            <a:r>
              <a:t>PROJECT 8  •  CONTENT GENERATION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1215</Words>
  <Application>Microsoft Office PowerPoint</Application>
  <PresentationFormat>Widescreen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DncSoft</dc:creator>
  <cp:keywords/>
  <dc:description>generated using python-pptx</dc:description>
  <cp:lastModifiedBy>SHARIF AHMED</cp:lastModifiedBy>
  <cp:revision>2</cp:revision>
  <dcterms:created xsi:type="dcterms:W3CDTF">2013-01-27T09:14:16Z</dcterms:created>
  <dcterms:modified xsi:type="dcterms:W3CDTF">2026-10-23T08:59:54Z</dcterms:modified>
  <cp:category/>
</cp:coreProperties>
</file>